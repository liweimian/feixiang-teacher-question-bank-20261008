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9ab1ca336440aa" /><Relationship Type="http://schemas.openxmlformats.org/officeDocument/2006/relationships/extended-properties" Target="/docProps/app.xml" Id="Rb69191af535b4f08" /><Relationship Type="http://schemas.openxmlformats.org/officeDocument/2006/relationships/officeDocument" Target="/ppt/presentation.xml" Id="Rfc22bd54e5144f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06757443864a00"/>
  </p:sldMasterIdLst>
  <p:notesMasterIdLst>
    <p:notesMasterId xmlns:r="http://schemas.openxmlformats.org/officeDocument/2006/relationships" r:id="Rad41d2ddcccc4cc5"/>
  </p:notesMasterIdLst>
  <p:sldIdLst>
    <p:sldId xmlns:r="http://schemas.openxmlformats.org/officeDocument/2006/relationships" id="256" r:id="Ra2f61e88ebdd43a7"/>
    <p:sldId xmlns:r="http://schemas.openxmlformats.org/officeDocument/2006/relationships" id="257" r:id="Rddbe7448f7b34b1e"/>
    <p:sldId xmlns:r="http://schemas.openxmlformats.org/officeDocument/2006/relationships" id="258" r:id="Rd938a6bf022b4d77"/>
    <p:sldId xmlns:r="http://schemas.openxmlformats.org/officeDocument/2006/relationships" id="259" r:id="Re5cffa7f9466494e"/>
    <p:sldId xmlns:r="http://schemas.openxmlformats.org/officeDocument/2006/relationships" id="260" r:id="Rbac5a0248c7040e2"/>
    <p:sldId xmlns:r="http://schemas.openxmlformats.org/officeDocument/2006/relationships" id="261" r:id="Ra1412a8d4e424090"/>
    <p:sldId xmlns:r="http://schemas.openxmlformats.org/officeDocument/2006/relationships" id="262" r:id="R7b04669d75354543"/>
    <p:sldId xmlns:r="http://schemas.openxmlformats.org/officeDocument/2006/relationships" id="263" r:id="R4afa47c399424613"/>
    <p:sldId xmlns:r="http://schemas.openxmlformats.org/officeDocument/2006/relationships" id="264" r:id="R9936b7198c27419f"/>
    <p:sldId xmlns:r="http://schemas.openxmlformats.org/officeDocument/2006/relationships" id="265" r:id="Rb5a76459c6b74d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436754a53445bf" /><Relationship Type="http://schemas.openxmlformats.org/officeDocument/2006/relationships/slideMaster" Target="/ppt/slideMasters/slideMaster1.xml" Id="R5006757443864a00" /><Relationship Type="http://schemas.openxmlformats.org/officeDocument/2006/relationships/notesMaster" Target="/ppt/notesMasters/notesMaster1.xml" Id="Rad41d2ddcccc4cc5" /><Relationship Type="http://schemas.openxmlformats.org/officeDocument/2006/relationships/presProps" Target="/ppt/presProps.xml" Id="R4e2d68f73b3f4d2d" /><Relationship Type="http://schemas.openxmlformats.org/officeDocument/2006/relationships/tableStyles" Target="/ppt/tableStyles.xml" Id="R6295f91d7d8d49ad" /><Relationship Type="http://schemas.openxmlformats.org/officeDocument/2006/relationships/slide" Target="/ppt/slides/slide1.xml" Id="Ra2f61e88ebdd43a7" /><Relationship Type="http://schemas.openxmlformats.org/officeDocument/2006/relationships/slide" Target="/ppt/slides/slide2.xml" Id="Rddbe7448f7b34b1e" /><Relationship Type="http://schemas.openxmlformats.org/officeDocument/2006/relationships/slide" Target="/ppt/slides/slide3.xml" Id="Rd938a6bf022b4d77" /><Relationship Type="http://schemas.openxmlformats.org/officeDocument/2006/relationships/slide" Target="/ppt/slides/slide4.xml" Id="Re5cffa7f9466494e" /><Relationship Type="http://schemas.openxmlformats.org/officeDocument/2006/relationships/slide" Target="/ppt/slides/slide5.xml" Id="Rbac5a0248c7040e2" /><Relationship Type="http://schemas.openxmlformats.org/officeDocument/2006/relationships/slide" Target="/ppt/slides/slide6.xml" Id="Ra1412a8d4e424090" /><Relationship Type="http://schemas.openxmlformats.org/officeDocument/2006/relationships/slide" Target="/ppt/slides/slide7.xml" Id="R7b04669d75354543" /><Relationship Type="http://schemas.openxmlformats.org/officeDocument/2006/relationships/slide" Target="/ppt/slides/slide8.xml" Id="R4afa47c399424613" /><Relationship Type="http://schemas.openxmlformats.org/officeDocument/2006/relationships/slide" Target="/ppt/slides/slide9.xml" Id="R9936b7198c27419f" /><Relationship Type="http://schemas.openxmlformats.org/officeDocument/2006/relationships/slide" Target="/ppt/slides/slide10.xml" Id="Rb5a76459c6b74d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6c363b5a8749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b696b953824840" /><Relationship Type="http://schemas.openxmlformats.org/officeDocument/2006/relationships/notesMaster" Target="/ppt/notesMasters/notesMaster1.xml" Id="R5d70233e13a043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b1379848354bb7" /><Relationship Type="http://schemas.openxmlformats.org/officeDocument/2006/relationships/notesMaster" Target="/ppt/notesMasters/notesMaster1.xml" Id="R82549c57752943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708c02f8cf4983" /><Relationship Type="http://schemas.openxmlformats.org/officeDocument/2006/relationships/notesMaster" Target="/ppt/notesMasters/notesMaster1.xml" Id="R108257fe83274b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d0d3028cc44270" /><Relationship Type="http://schemas.openxmlformats.org/officeDocument/2006/relationships/notesMaster" Target="/ppt/notesMasters/notesMaster1.xml" Id="R4cd03e2d556745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0e928abb584bd9" /><Relationship Type="http://schemas.openxmlformats.org/officeDocument/2006/relationships/notesMaster" Target="/ppt/notesMasters/notesMaster1.xml" Id="R3b1abac53f674f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8730c7277f47b9" /><Relationship Type="http://schemas.openxmlformats.org/officeDocument/2006/relationships/notesMaster" Target="/ppt/notesMasters/notesMaster1.xml" Id="R5d7a98a3a03444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2622503afb44ba" /><Relationship Type="http://schemas.openxmlformats.org/officeDocument/2006/relationships/notesMaster" Target="/ppt/notesMasters/notesMaster1.xml" Id="Rbe53d31a22994f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e83dd666f94107" /><Relationship Type="http://schemas.openxmlformats.org/officeDocument/2006/relationships/notesMaster" Target="/ppt/notesMasters/notesMaster1.xml" Id="R7f4ea17d56ad47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33f0630434451b" /><Relationship Type="http://schemas.openxmlformats.org/officeDocument/2006/relationships/notesMaster" Target="/ppt/notesMasters/notesMaster1.xml" Id="Rcb54fb58c2b646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fab971151f4351" /><Relationship Type="http://schemas.openxmlformats.org/officeDocument/2006/relationships/notesMaster" Target="/ppt/notesMasters/notesMaster1.xml" Id="Ree765272c1c744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开场先表达感谢，并说明今天不公布个人排名，只讨论班级共性与合作方法。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class data are simulated for this demonstration.</a:t>
            </a:r>
          </a:p>
          <a:p xmlns:a="http://schemas.openxmlformats.org/drawingml/2006/main">
            <a:r>
              <a:t>- Hero illustration generated for this package;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用具体观察描述成长，避免只把成绩作为唯一尺度。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class data are simulated for this demonstration.</a:t>
            </a:r>
          </a:p>
          <a:p xmlns:a="http://schemas.openxmlformats.org/drawingml/2006/main">
            <a:r>
              <a:t>- Hero illustration generated for this package;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所有数字均为模拟。现场只展示汇总数据，不公开个人分数与排名。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class data are simulated for this demonstration.</a:t>
            </a:r>
          </a:p>
          <a:p xmlns:a="http://schemas.openxmlformats.org/drawingml/2006/main">
            <a:r>
              <a:t>- Hero illustration generated for this package;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分布为模拟数据。强调大多数孩子处于稳定区间，并说明个别支持原则。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class data are simulated for this demonstration.</a:t>
            </a:r>
          </a:p>
          <a:p xmlns:a="http://schemas.openxmlformats.org/drawingml/2006/main">
            <a:r>
              <a:t>- Hero illustration generated for this package;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分层不是贴标签，而是决定支持方式和复盘频率。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class data are simulated for this demonstration.</a:t>
            </a:r>
          </a:p>
          <a:p xmlns:a="http://schemas.openxmlformats.org/drawingml/2006/main">
            <a:r>
              <a:t>- Hero illustration generated for this package;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把问题表述为可改变的学习行为，不给孩子贴固定标签。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class data are simulated for this demonstration.</a:t>
            </a:r>
          </a:p>
          <a:p xmlns:a="http://schemas.openxmlformats.org/drawingml/2006/main">
            <a:r>
              <a:t>- Hero illustration generated for this package;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强调动作要小、频率要稳定，并在两周后依据变化调整。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class data are simulated for this demonstration.</a:t>
            </a:r>
          </a:p>
          <a:p xmlns:a="http://schemas.openxmlformats.org/drawingml/2006/main">
            <a:r>
              <a:t>- Hero illustration generated for this package;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建议家长从环境和方法入手，避免额外叠加大量练习。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class data are simulated for this demonstration.</a:t>
            </a:r>
          </a:p>
          <a:p xmlns:a="http://schemas.openxmlformats.org/drawingml/2006/main">
            <a:r>
              <a:t>- Hero illustration generated for this package;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如家长希望了解具体情况，安排会后 10 分钟个别沟通。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class data are simulated for this demonstration.</a:t>
            </a:r>
          </a:p>
          <a:p xmlns:a="http://schemas.openxmlformats.org/drawingml/2006/main">
            <a:r>
              <a:t>- Hero illustration generated for this package;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结束时邀请家长提出问题，并说明个别沟通安排。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All class data are simulated for this demonstration.</a:t>
            </a:r>
          </a:p>
          <a:p xmlns:a="http://schemas.openxmlformats.org/drawingml/2006/main">
            <a:r>
              <a:t>- Hero illustration generated for this package;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913081f1c49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647c2b04794e2c" /><Relationship Type="http://schemas.openxmlformats.org/officeDocument/2006/relationships/slideLayout" Target="/ppt/slideLayouts/slideLayout1.xml" Id="R8617b5f912c74f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17b5f912c74f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7d43f6fe84407" /><Relationship Type="http://schemas.openxmlformats.org/officeDocument/2006/relationships/image" Target="/ppt/media/image.png" Id="R778bbd3bdac5470d" /><Relationship Type="http://schemas.openxmlformats.org/officeDocument/2006/relationships/notesSlide" Target="/ppt/notesSlides/notesSlide1.xml" Id="R5d2e34f99fe34e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17cc250944c0a" /><Relationship Type="http://schemas.openxmlformats.org/officeDocument/2006/relationships/notesSlide" Target="/ppt/notesSlides/notesSlide2.xml" Id="Rb29dc6e1710744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8747ca7c348f5" /><Relationship Type="http://schemas.openxmlformats.org/officeDocument/2006/relationships/notesSlide" Target="/ppt/notesSlides/notesSlide3.xml" Id="R9166601d076242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8b1bbf17944c2" /><Relationship Type="http://schemas.openxmlformats.org/officeDocument/2006/relationships/image" Target="/ppt/media/image2.png" Id="R02bfc63543c34571" /><Relationship Type="http://schemas.openxmlformats.org/officeDocument/2006/relationships/notesSlide" Target="/ppt/notesSlides/notesSlide4.xml" Id="R166b503780d84f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d035eecce491c" /><Relationship Type="http://schemas.openxmlformats.org/officeDocument/2006/relationships/image" Target="/ppt/media/image3.png" Id="R790285c4089a4d1c" /><Relationship Type="http://schemas.openxmlformats.org/officeDocument/2006/relationships/notesSlide" Target="/ppt/notesSlides/notesSlide5.xml" Id="Ra49351aaf1f3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5e31896f34bba" /><Relationship Type="http://schemas.openxmlformats.org/officeDocument/2006/relationships/notesSlide" Target="/ppt/notesSlides/notesSlide6.xml" Id="Rab5e460c58c64b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01b8ea48a45b5" /><Relationship Type="http://schemas.openxmlformats.org/officeDocument/2006/relationships/notesSlide" Target="/ppt/notesSlides/notesSlide7.xml" Id="Raf814e8df3e443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5bef62a804970" /><Relationship Type="http://schemas.openxmlformats.org/officeDocument/2006/relationships/notesSlide" Target="/ppt/notesSlides/notesSlide8.xml" Id="R9f9c1ae2ce014b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3b06fb4b74d0b" /><Relationship Type="http://schemas.openxmlformats.org/officeDocument/2006/relationships/notesSlide" Target="/ppt/notesSlides/notesSlide9.xml" Id="Rdc9a4e4211074d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e41ead8b94c4a" /><Relationship Type="http://schemas.openxmlformats.org/officeDocument/2006/relationships/image" Target="/ppt/media/image4.png" Id="R8f850733b0344a4d" /><Relationship Type="http://schemas.openxmlformats.org/officeDocument/2006/relationships/notesSlide" Target="/ppt/notesSlides/notesSlide10.xml" Id="R598ef30eccae4f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bbd3bdac5470d"/>
          <a:srcRect xmlns:a="http://schemas.openxmlformats.org/drawingml/2006/main" l="21078" t="0" r="21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0"/>
            <a:ext cx="7048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59D02-C799-41C6-9F70-FD9E1A94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DD378-D36F-4590-BC7E-D85B5263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A43B"/>
                </a:solidFill>
              </a:defRPr>
            </a:pPr>
            <a:r>
              <a:rPr sz="1350" b="1">
                <a:solidFill>
                  <a:srgbClr val="D5A43B"/>
                </a:solidFill>
              </a:rPr>
              <a:t>五年级二班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94720-5D23-441C-9B99-00F7FFEF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期中家长会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772E5-5EBF-47FF-B530-E9898D54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9EE"/>
                </a:solidFill>
              </a:defRPr>
            </a:pPr>
            <a:r>
              <a:rPr sz="2550" b="1">
                <a:solidFill>
                  <a:srgbClr val="FFF9EE"/>
                </a:solidFill>
              </a:rPr>
              <a:t>看见成长</a:t>
            </a:r>
          </a:p>
          <a:p xmlns:a="http://schemas.openxmlformats.org/drawingml/2006/main">
            <a:pPr algn="l">
              <a:defRPr sz="2550" b="1">
                <a:solidFill>
                  <a:srgbClr val="FFF9EE"/>
                </a:solidFill>
              </a:defRPr>
            </a:pPr>
            <a:r>
              <a:rPr sz="2550" b="1">
                <a:solidFill>
                  <a:srgbClr val="FFF9EE"/>
                </a:solidFill>
              </a:rPr>
              <a:t>一起走好下一程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50FB8-0E08-4647-A7B1-DF5279EA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DE0D8"/>
                </a:solidFill>
              </a:defRPr>
            </a:pPr>
            <a:r>
              <a:rPr sz="1350" b="0">
                <a:solidFill>
                  <a:srgbClr val="CDE0D8"/>
                </a:solidFill>
              </a:rPr>
              <a:t>班级学习回顾 · 下一阶段计划 · 家校协作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13F99-88F3-4DBA-9E1C-CF76E3DA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8BE"/>
                </a:solidFill>
              </a:defRPr>
            </a:pPr>
            <a:r>
              <a:rPr sz="975" b="0">
                <a:solidFill>
                  <a:srgbClr val="AFC8BE"/>
                </a:solidFill>
              </a:rPr>
              <a:t>2026 秋季｜模拟班级情景</a:t>
            </a:r>
          </a:p>
        </p:txBody>
      </p:sp>
    </p:spTree>
    <p:extLst>
      <p:ext uri="{BB962C8B-B14F-4D97-AF65-F5344CB8AC3E}">
        <p14:creationId xmlns:p14="http://schemas.microsoft.com/office/powerpoint/2010/main" val="1531302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B4435-6C96-473F-AA66-AEEC37EA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43B"/>
                </a:solidFill>
              </a:defRPr>
            </a:pPr>
            <a:r>
              <a:rPr sz="900" b="1">
                <a:solidFill>
                  <a:srgbClr val="D5A43B"/>
                </a:solidFill>
              </a:rPr>
              <a:t>01 · OUR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457B2-9B1E-4541-B8DC-20B88ACB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B36"/>
                </a:solidFill>
              </a:defRPr>
            </a:pPr>
            <a:r>
              <a:rPr sz="2700" b="1">
                <a:solidFill>
                  <a:srgbClr val="123B36"/>
                </a:solidFill>
              </a:rPr>
              <a:t>先看成长，再看数字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E2EDB-41C7-484D-8CB4-F31EE7ED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A74"/>
                </a:solidFill>
              </a:defRPr>
            </a:pPr>
            <a:r>
              <a:rPr sz="975" b="1">
                <a:solidFill>
                  <a:srgbClr val="647A74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BCCBD-AA45-4DA2-8075-CEECCB8E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E07CF-6F38-4B8C-BC42-012DA74E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A74"/>
                </a:solidFill>
              </a:defRPr>
            </a:pPr>
            <a:r>
              <a:rPr sz="1350" b="0">
                <a:solidFill>
                  <a:srgbClr val="647A74"/>
                </a:solidFill>
              </a:rPr>
              <a:t>半学期以来，我们最珍惜的三个变化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A191A-4AFB-4137-A967-15A273A8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FE0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C7F3D-9414-4271-AE7A-E2D5BD1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C45"/>
                </a:solidFill>
              </a:defRPr>
            </a:pPr>
            <a:r>
              <a:rPr sz="1275" b="1">
                <a:solidFill>
                  <a:srgbClr val="174C4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8C705-219F-4B85-AD3C-3A0C36DF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B36"/>
                </a:solidFill>
              </a:defRPr>
            </a:pPr>
            <a:r>
              <a:rPr sz="2025" b="1">
                <a:solidFill>
                  <a:srgbClr val="123B36"/>
                </a:solidFill>
              </a:rPr>
              <a:t>更敢表达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F8780-1D07-40A2-95EC-7F339534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更多孩子愿意说出思路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AE134-8498-48B0-A401-88291847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A74"/>
                </a:solidFill>
              </a:defRPr>
            </a:pPr>
            <a:r>
              <a:rPr sz="1050" b="1">
                <a:solidFill>
                  <a:srgbClr val="647A74"/>
                </a:solidFill>
              </a:rPr>
              <a:t>课堂参与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0ED3C-61EA-4FEC-88F1-65A41A20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F1D7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5A97C-C1EC-4932-85F3-3208CE7E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38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6B52"/>
                </a:solidFill>
              </a:defRPr>
            </a:pPr>
            <a:r>
              <a:rPr sz="1275" b="1">
                <a:solidFill>
                  <a:srgbClr val="E06B5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567F9-8879-4046-993D-325FD21E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98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B36"/>
                </a:solidFill>
              </a:defRPr>
            </a:pPr>
            <a:r>
              <a:rPr sz="2025" b="1">
                <a:solidFill>
                  <a:srgbClr val="123B36"/>
                </a:solidFill>
              </a:rPr>
              <a:t>更会修正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61718-04C5-432B-969E-D8582824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7662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答错后能说明原因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19D55-2D51-44BA-BE93-B24731A3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A74"/>
                </a:solidFill>
              </a:defRPr>
            </a:pPr>
            <a:r>
              <a:rPr sz="1050" b="1">
                <a:solidFill>
                  <a:srgbClr val="647A74"/>
                </a:solidFill>
              </a:rPr>
              <a:t>反思能力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02245-039F-4D24-AB75-A422857B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FE0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7FF62-943E-427D-9972-C23EA339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38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C45"/>
                </a:solidFill>
              </a:defRPr>
            </a:pPr>
            <a:r>
              <a:rPr sz="1275" b="1">
                <a:solidFill>
                  <a:srgbClr val="174C4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F1C1F-BFD4-4B9B-A39A-8743C9D3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98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B36"/>
                </a:solidFill>
              </a:defRPr>
            </a:pPr>
            <a:r>
              <a:rPr sz="2025" b="1">
                <a:solidFill>
                  <a:srgbClr val="123B36"/>
                </a:solidFill>
              </a:rPr>
              <a:t>更有节奏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7604E-B147-4A34-9C99-D0973B4A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7662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阅读与基础练习更稳定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2DEDA-FE79-4468-A735-18005255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76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A74"/>
                </a:solidFill>
              </a:defRPr>
            </a:pPr>
            <a:r>
              <a:rPr sz="1050" b="1">
                <a:solidFill>
                  <a:srgbClr val="647A74"/>
                </a:solidFill>
              </a:rPr>
              <a:t>学习习惯</a:t>
            </a:r>
          </a:p>
        </p:txBody>
      </p:sp>
    </p:spTree>
    <p:extLst>
      <p:ext uri="{BB962C8B-B14F-4D97-AF65-F5344CB8AC3E}">
        <p14:creationId xmlns:p14="http://schemas.microsoft.com/office/powerpoint/2010/main" val="1653652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CDA8D-C52E-47E2-98AD-71A880B3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43B"/>
                </a:solidFill>
              </a:defRPr>
            </a:pPr>
            <a:r>
              <a:rPr sz="900" b="1">
                <a:solidFill>
                  <a:srgbClr val="D5A43B"/>
                </a:solidFill>
              </a:rPr>
              <a:t>02 · CLASS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0BDB2-35B9-4B38-85D4-13D9762D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B36"/>
                </a:solidFill>
              </a:defRPr>
            </a:pPr>
            <a:r>
              <a:rPr sz="2700" b="1">
                <a:solidFill>
                  <a:srgbClr val="123B36"/>
                </a:solidFill>
              </a:rPr>
              <a:t>班级整体：稳定中出现分化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D1A22-96A1-46A8-8C98-83A873B1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A74"/>
                </a:solidFill>
              </a:defRPr>
            </a:pPr>
            <a:r>
              <a:rPr sz="975" b="1">
                <a:solidFill>
                  <a:srgbClr val="647A74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1E24E-22F3-4BE1-8545-B207AB38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35A94-B5C2-42E2-B157-54F5380E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476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88CCD-4CCB-4411-87F5-4A9C6DBF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C45"/>
                </a:solidFill>
              </a:defRPr>
            </a:pPr>
            <a:r>
              <a:rPr sz="2400" b="1">
                <a:solidFill>
                  <a:srgbClr val="174C45"/>
                </a:solidFill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2D9A7-3C9E-4817-B932-98BD402E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7145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A74"/>
                </a:solidFill>
              </a:defRPr>
            </a:pPr>
            <a:r>
              <a:rPr sz="1125" b="1">
                <a:solidFill>
                  <a:srgbClr val="647A74"/>
                </a:solidFill>
              </a:rPr>
              <a:t>名学生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70FE5-DC16-4E35-A9FC-6FB7BE93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2476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E068B-DC0C-4394-BA18-3C0DAB46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81150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C45"/>
                </a:solidFill>
              </a:defRPr>
            </a:pPr>
            <a:r>
              <a:rPr sz="2400" b="1">
                <a:solidFill>
                  <a:srgbClr val="174C45"/>
                </a:solidFill>
              </a:rPr>
              <a:t>83.8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8276B-4382-4988-A214-B73B6900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145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A74"/>
                </a:solidFill>
              </a:defRPr>
            </a:pPr>
            <a:r>
              <a:rPr sz="1125" b="1">
                <a:solidFill>
                  <a:srgbClr val="647A74"/>
                </a:solidFill>
              </a:rPr>
              <a:t>三科均分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6E3AB-D182-4A9F-AAA6-C9E1A97F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476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42BFE-0B5E-49F3-BA3A-9FBCBAB6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C45"/>
                </a:solidFill>
              </a:defRPr>
            </a:pPr>
            <a:r>
              <a:rPr sz="2400" b="1">
                <a:solidFill>
                  <a:srgbClr val="174C45"/>
                </a:solidFill>
              </a:rPr>
              <a:t>94%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51A7C-8F74-4C88-BC7C-2FC6CC67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A74"/>
                </a:solidFill>
              </a:defRPr>
            </a:pPr>
            <a:r>
              <a:rPr sz="1125" b="1">
                <a:solidFill>
                  <a:srgbClr val="647A74"/>
                </a:solidFill>
              </a:rPr>
              <a:t>达标率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D2C0A-D424-4979-B026-7C09119C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28750"/>
            <a:ext cx="2476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59B8E-5BDA-4C95-A85A-09BD1637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81150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06B52"/>
                </a:solidFill>
              </a:defRPr>
            </a:pPr>
            <a:r>
              <a:rPr sz="2400" b="1">
                <a:solidFill>
                  <a:srgbClr val="E06B52"/>
                </a:solidFill>
              </a:rPr>
              <a:t>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89362-71C1-4D1A-9C60-AB021804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7145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A74"/>
                </a:solidFill>
              </a:defRPr>
            </a:pPr>
            <a:r>
              <a:rPr sz="1125" b="1">
                <a:solidFill>
                  <a:srgbClr val="647A74"/>
                </a:solidFill>
              </a:rPr>
              <a:t>重点跟进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5572D-7520-4F69-9AC7-25FD2D31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B36"/>
                </a:solidFill>
              </a:defRPr>
            </a:pPr>
            <a:r>
              <a:rPr sz="1800" b="1">
                <a:solidFill>
                  <a:srgbClr val="123B36"/>
                </a:solidFill>
              </a:rPr>
              <a:t>数据背后的判断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4CA7A-C67B-4056-BAF6-CDE7A0F4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06B52"/>
                </a:solidFill>
              </a:defRPr>
            </a:pPr>
            <a:r>
              <a:rPr sz="1125" b="1">
                <a:solidFill>
                  <a:srgbClr val="E06B52"/>
                </a:solidFill>
              </a:rPr>
              <a:t>优势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7FB96-08A5-42E8-96DF-8AFA6644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99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三科整体均衡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BC69F-ACAC-4F3C-B7B8-495BFA36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06B52"/>
                </a:solidFill>
              </a:defRPr>
            </a:pPr>
            <a:r>
              <a:rPr sz="1125" b="1">
                <a:solidFill>
                  <a:srgbClr val="E06B52"/>
                </a:solidFill>
              </a:rPr>
              <a:t>差异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DA09F-871D-451E-B55B-6AA56657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767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数学应用与作业持续性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C88E4-C126-4F3F-8F22-6737D290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06B52"/>
                </a:solidFill>
              </a:defRPr>
            </a:pPr>
            <a:r>
              <a:rPr sz="1125" b="1">
                <a:solidFill>
                  <a:srgbClr val="E06B52"/>
                </a:solidFill>
              </a:rPr>
              <a:t>原则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D8579-B329-4B33-9647-0E8E76AD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434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先改善方法，再增加练习</a:t>
            </a:r>
          </a:p>
        </p:txBody>
      </p:sp>
    </p:spTree>
    <p:extLst>
      <p:ext uri="{BB962C8B-B14F-4D97-AF65-F5344CB8AC3E}">
        <p14:creationId xmlns:p14="http://schemas.microsoft.com/office/powerpoint/2010/main" val="1145139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A41CF-602A-4E57-81C3-D594F3B0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43B"/>
                </a:solidFill>
              </a:defRPr>
            </a:pPr>
            <a:r>
              <a:rPr sz="900" b="1">
                <a:solidFill>
                  <a:srgbClr val="D5A43B"/>
                </a:solidFill>
              </a:rPr>
              <a:t>03 · SCORE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95181-9EF7-48C2-ABC3-FBE39F7D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B36"/>
                </a:solidFill>
              </a:defRPr>
            </a:pPr>
            <a:r>
              <a:rPr sz="2700" b="1">
                <a:solidFill>
                  <a:srgbClr val="123B36"/>
                </a:solidFill>
              </a:rPr>
              <a:t>成绩分布：多数孩子位于稳定区间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C5CA0-6E97-4BCB-A58D-615783E1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A74"/>
                </a:solidFill>
              </a:defRPr>
            </a:pPr>
            <a:r>
              <a:rPr sz="975" b="1">
                <a:solidFill>
                  <a:srgbClr val="647A74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63E93-BAC2-4F84-8344-B2138CA6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fc63543c34571"/>
          <a:stretch xmlns:a="http://schemas.openxmlformats.org/drawingml/2006/main"/>
        </p:blipFill>
        <p:spPr>
          <a:xfrm xmlns:a="http://schemas.openxmlformats.org/drawingml/2006/main">
            <a:off x="523875" y="1514475"/>
            <a:ext cx="6858000" cy="4114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59060-A5DC-4D69-BE05-E36FD621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B36"/>
                </a:solidFill>
              </a:defRPr>
            </a:pPr>
            <a:r>
              <a:rPr sz="2025" b="1">
                <a:solidFill>
                  <a:srgbClr val="123B36"/>
                </a:solidFill>
              </a:rPr>
              <a:t>36 名学生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6EB18-7220-46F4-B03E-A2266004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28875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80-89 分段人数最多</a:t>
            </a:r>
          </a:p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75 分以下 2 人需要个别支持</a:t>
            </a:r>
          </a:p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不以一次成绩定义孩子</a:t>
            </a:r>
          </a:p>
        </p:txBody>
      </p:sp>
    </p:spTree>
    <p:extLst>
      <p:ext uri="{BB962C8B-B14F-4D97-AF65-F5344CB8AC3E}">
        <p14:creationId xmlns:p14="http://schemas.microsoft.com/office/powerpoint/2010/main" val="20424933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B1CB5-4ADE-437A-BE0B-A89211C8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43B"/>
                </a:solidFill>
              </a:defRPr>
            </a:pPr>
            <a:r>
              <a:rPr sz="900" b="1">
                <a:solidFill>
                  <a:srgbClr val="D5A43B"/>
                </a:solidFill>
              </a:rPr>
              <a:t>04 · SUPPORT MIX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E212A-DB71-40C1-8D5B-C54089A5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B36"/>
                </a:solidFill>
              </a:defRPr>
            </a:pPr>
            <a:r>
              <a:rPr sz="2700" b="1">
                <a:solidFill>
                  <a:srgbClr val="123B36"/>
                </a:solidFill>
              </a:rPr>
              <a:t>关注分层：不同孩子，不同支持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32AD5-154B-4050-A435-E98EEE54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A74"/>
                </a:solidFill>
              </a:defRPr>
            </a:pPr>
            <a:r>
              <a:rPr sz="975" b="1">
                <a:solidFill>
                  <a:srgbClr val="647A74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3723E-C48D-4FE6-80BB-6BC0B44E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285c4089a4d1c"/>
          <a:stretch xmlns:a="http://schemas.openxmlformats.org/drawingml/2006/main"/>
        </p:blipFill>
        <p:spPr>
          <a:xfrm xmlns:a="http://schemas.openxmlformats.org/drawingml/2006/main">
            <a:off x="523875" y="1525732"/>
            <a:ext cx="5905500" cy="418753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3EF59-5221-4299-AA97-12A67D02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06B52"/>
                </a:solidFill>
              </a:defRPr>
            </a:pPr>
            <a:r>
              <a:rPr sz="1650" b="1">
                <a:solidFill>
                  <a:srgbClr val="E06B52"/>
                </a:solidFill>
              </a:rPr>
              <a:t>重点跟进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83080-6567-4F6E-B23C-7132B7FA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A43B"/>
                </a:solidFill>
              </a:defRPr>
            </a:pPr>
            <a:r>
              <a:rPr sz="1650" b="1">
                <a:solidFill>
                  <a:srgbClr val="D5A43B"/>
                </a:solidFill>
              </a:rPr>
              <a:t>进步表扬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68DE8-232B-47DA-8DC4-8F33696A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C45"/>
                </a:solidFill>
              </a:defRPr>
            </a:pPr>
            <a:r>
              <a:rPr sz="1650" b="1">
                <a:solidFill>
                  <a:srgbClr val="174C45"/>
                </a:solidFill>
              </a:rPr>
              <a:t>常规关注 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2F0AD-63BC-4E84-A70E-0DEDFFEB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分层不是贴标签，</a:t>
            </a:r>
          </a:p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而是决定支持方式与复盘频率。</a:t>
            </a:r>
          </a:p>
        </p:txBody>
      </p:sp>
    </p:spTree>
    <p:extLst>
      <p:ext uri="{BB962C8B-B14F-4D97-AF65-F5344CB8AC3E}">
        <p14:creationId xmlns:p14="http://schemas.microsoft.com/office/powerpoint/2010/main" val="6500283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3AE56-E6DE-46B4-BA80-596573F0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43B"/>
                </a:solidFill>
              </a:defRPr>
            </a:pPr>
            <a:r>
              <a:rPr sz="900" b="1">
                <a:solidFill>
                  <a:srgbClr val="D5A43B"/>
                </a:solidFill>
              </a:rPr>
              <a:t>05 · WHAT WE NOTICE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FD7D3-1F22-4FF8-A84C-AAA0AA8A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B36"/>
                </a:solidFill>
              </a:defRPr>
            </a:pPr>
            <a:r>
              <a:rPr sz="2700" b="1">
                <a:solidFill>
                  <a:srgbClr val="123B36"/>
                </a:solidFill>
              </a:rPr>
              <a:t>三个值得共同关注的问题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AF8AB-9BA9-4574-928B-0C7EF574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A74"/>
                </a:solidFill>
              </a:defRPr>
            </a:pPr>
            <a:r>
              <a:rPr sz="975" b="1">
                <a:solidFill>
                  <a:srgbClr val="647A74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38392-F507-4E05-AC85-BCC4AEF5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1BE54-28D9-4E0F-B0E6-D3379F4D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C45"/>
                </a:solidFill>
              </a:defRPr>
            </a:pPr>
            <a:r>
              <a:rPr sz="2100" b="1">
                <a:solidFill>
                  <a:srgbClr val="174C4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55AA6-4B34-4146-9305-A9200208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24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B36"/>
                </a:solidFill>
              </a:defRPr>
            </a:pPr>
            <a:r>
              <a:rPr sz="1875" b="1">
                <a:solidFill>
                  <a:srgbClr val="123B36"/>
                </a:solidFill>
              </a:rPr>
              <a:t>数学应用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81BEF-EE5A-4E1A-A655-1575A4BA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会算，但不能稳定说明数量关系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3F123-1C76-44F4-8BCF-AD237F97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38375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D87EC-202C-48D2-9E93-017E4B1E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06B52"/>
                </a:solidFill>
              </a:defRPr>
            </a:pPr>
            <a:r>
              <a:rPr sz="2100" b="1">
                <a:solidFill>
                  <a:srgbClr val="E06B5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E866E-BD5C-4B1C-810E-7A490107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03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B36"/>
                </a:solidFill>
              </a:defRPr>
            </a:pPr>
            <a:r>
              <a:rPr sz="1875" b="1">
                <a:solidFill>
                  <a:srgbClr val="123B36"/>
                </a:solidFill>
              </a:rPr>
              <a:t>表达依据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26B51-B07D-4217-89DB-3E02E49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回答有结论，缺少理由与证据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7D0B2-F779-46F4-A03A-D98C3652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B35BB-428B-4A62-B0F6-80742D0F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5A43B"/>
                </a:solidFill>
              </a:defRPr>
            </a:pPr>
            <a:r>
              <a:rPr sz="2100" b="1">
                <a:solidFill>
                  <a:srgbClr val="D5A43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856AD-A69E-4BC4-87BA-1C008DE4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B36"/>
                </a:solidFill>
              </a:defRPr>
            </a:pPr>
            <a:r>
              <a:rPr sz="1875" b="1">
                <a:solidFill>
                  <a:srgbClr val="123B36"/>
                </a:solidFill>
              </a:rPr>
              <a:t>作业持续性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4A1CD-4E56-41BC-B6B3-A639142A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767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少数孩子的完成节奏波动明显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FF3C2-0256-4CFD-BFB5-094F3ED1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91125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6896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93F3F-6D57-4F99-9CA4-90C16BB7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43B"/>
                </a:solidFill>
              </a:defRPr>
            </a:pPr>
            <a:r>
              <a:rPr sz="900" b="1">
                <a:solidFill>
                  <a:srgbClr val="D5A43B"/>
                </a:solidFill>
              </a:rPr>
              <a:t>04 · NEXT TWO WEEKS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9B58F-7B89-4882-A35E-A50DF33C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B36"/>
                </a:solidFill>
              </a:defRPr>
            </a:pPr>
            <a:r>
              <a:rPr sz="2700" b="1">
                <a:solidFill>
                  <a:srgbClr val="123B36"/>
                </a:solidFill>
              </a:rPr>
              <a:t>两周改进：小步、可见、可复盘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82B23-EBA2-4BEA-BA57-4BDB303C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A74"/>
                </a:solidFill>
              </a:defRPr>
            </a:pPr>
            <a:r>
              <a:rPr sz="975" b="1">
                <a:solidFill>
                  <a:srgbClr val="647A74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1DA2D-AC95-4791-AB3A-458B4085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CBC4A-237F-4814-9199-2C68CD4C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476500" cy="2667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F0D8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C59EB-F504-48D3-A0BF-288DD9FC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06B52"/>
                </a:solidFill>
              </a:defRPr>
            </a:pPr>
            <a:r>
              <a:rPr sz="1650" b="1">
                <a:solidFill>
                  <a:srgbClr val="E06B52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9C5DF-1D2E-4473-97CD-28D2BD97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B36"/>
                </a:solidFill>
              </a:defRPr>
            </a:pPr>
            <a:r>
              <a:rPr sz="1800" b="1">
                <a:solidFill>
                  <a:srgbClr val="123B36"/>
                </a:solidFill>
              </a:rPr>
              <a:t>课堂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F244D-C7EC-4A38-A8CF-4ED31025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先说思路，再动笔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6D726-6406-4490-BCBB-6BC71FF0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2476500" cy="2667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DE0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E35AF-313C-4182-AF94-DD05F9CB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19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C45"/>
                </a:solidFill>
              </a:defRPr>
            </a:pPr>
            <a:r>
              <a:rPr sz="1650" b="1">
                <a:solidFill>
                  <a:srgbClr val="174C4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4A057-EF82-4383-9C43-B5ED990A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14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B36"/>
                </a:solidFill>
              </a:defRPr>
            </a:pPr>
            <a:r>
              <a:rPr sz="1800" b="1">
                <a:solidFill>
                  <a:srgbClr val="123B36"/>
                </a:solidFill>
              </a:rPr>
              <a:t>习惯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938E8-86B6-4F72-B8C9-5469E29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任务卡 + 一分钟自查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32083-24EC-4825-A700-0E2D98DF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2476500" cy="2667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F0D8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536FA-50BC-429B-A361-5D195487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06B52"/>
                </a:solidFill>
              </a:defRPr>
            </a:pPr>
            <a:r>
              <a:rPr sz="1650" b="1">
                <a:solidFill>
                  <a:srgbClr val="E06B52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3C610-09E3-4CCF-B634-08EDD366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B36"/>
                </a:solidFill>
              </a:defRPr>
            </a:pPr>
            <a:r>
              <a:rPr sz="1800" b="1">
                <a:solidFill>
                  <a:srgbClr val="123B36"/>
                </a:solidFill>
              </a:rPr>
              <a:t>表达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B0C3F-B712-4E09-A12B-84A40D2E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观点 - 依据 - 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AEDAA-E8BC-44CA-8CF5-E1D701A9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09750"/>
            <a:ext cx="2476500" cy="2667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DE0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77D20-69D4-4295-9231-06B5185E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19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C45"/>
                </a:solidFill>
              </a:defRPr>
            </a:pPr>
            <a:r>
              <a:rPr sz="1650" b="1">
                <a:solidFill>
                  <a:srgbClr val="174C45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4240E-8E1B-4849-878F-C3D89890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14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B36"/>
                </a:solidFill>
              </a:defRPr>
            </a:pPr>
            <a:r>
              <a:rPr sz="1800" b="1">
                <a:solidFill>
                  <a:srgbClr val="123B36"/>
                </a:solidFill>
              </a:rPr>
              <a:t>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9A9C5-8B32-4259-9ECA-62BD1443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两周后看真实变化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0EAD1-92AF-40CB-AED3-A702AB55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4C45"/>
                </a:solidFill>
              </a:defRPr>
            </a:pPr>
            <a:r>
              <a:rPr sz="1500" b="1">
                <a:solidFill>
                  <a:srgbClr val="174C45"/>
                </a:solidFill>
              </a:rPr>
              <a:t>目标不是短期“刷高分”，而是形成可持续、可迁移的学习方法。</a:t>
            </a:r>
          </a:p>
        </p:txBody>
      </p:sp>
    </p:spTree>
    <p:extLst>
      <p:ext uri="{BB962C8B-B14F-4D97-AF65-F5344CB8AC3E}">
        <p14:creationId xmlns:p14="http://schemas.microsoft.com/office/powerpoint/2010/main" val="15549978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3E6BA-8DDE-48FD-956F-83011723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43B"/>
                </a:solidFill>
              </a:defRPr>
            </a:pPr>
            <a:r>
              <a:rPr sz="900" b="1">
                <a:solidFill>
                  <a:srgbClr val="D5A43B"/>
                </a:solidFill>
              </a:rPr>
              <a:t>05 · FAMILY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B86A8-5FF3-4D87-A252-4BD23735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B36"/>
                </a:solidFill>
              </a:defRPr>
            </a:pPr>
            <a:r>
              <a:rPr sz="2700" b="1">
                <a:solidFill>
                  <a:srgbClr val="123B36"/>
                </a:solidFill>
              </a:rPr>
              <a:t>家庭支持：四件小事就够了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DFDA0-8EF7-4AE8-A6B3-75447281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A74"/>
                </a:solidFill>
              </a:defRPr>
            </a:pPr>
            <a:r>
              <a:rPr sz="975" b="1">
                <a:solidFill>
                  <a:srgbClr val="647A74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D9194-DE62-435A-BEF4-988600B0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F3EC3-9DE4-423F-B583-1721C60A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5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5842B-925C-4EB9-890B-0E837F18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4782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6B52"/>
                </a:solidFill>
              </a:defRPr>
            </a:pPr>
            <a:r>
              <a:rPr sz="1275" b="1">
                <a:solidFill>
                  <a:srgbClr val="E06B5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5FEE7-D26E-49D5-9C1F-5DD7EFE0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97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36"/>
                </a:solidFill>
              </a:defRPr>
            </a:pPr>
            <a:r>
              <a:rPr sz="1650" b="1">
                <a:solidFill>
                  <a:srgbClr val="123B36"/>
                </a:solidFill>
              </a:rPr>
              <a:t>固定节奏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8B5C7-9097-4F94-8A23-0C72D818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972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相对固定的时间完成任务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82E6A-1848-4C5B-B855-418F67F9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85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EE0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D9069-6123-491D-BD12-70D520EF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C45"/>
                </a:solidFill>
              </a:defRPr>
            </a:pPr>
            <a:r>
              <a:rPr sz="1275" b="1">
                <a:solidFill>
                  <a:srgbClr val="174C4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941BE-82CC-4CB3-BC2B-3E56C5CC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574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36"/>
                </a:solidFill>
              </a:defRPr>
            </a:pPr>
            <a:r>
              <a:rPr sz="1650" b="1">
                <a:solidFill>
                  <a:srgbClr val="123B36"/>
                </a:solidFill>
              </a:rPr>
              <a:t>亲子共读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862AF-424E-4155-A775-4BFDCD4A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574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每天 10-15 分钟，聊一个“为什么”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97A13-9096-4A1B-972C-F965DB5C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5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EFCE6-E3BC-4290-826B-961F61A8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332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6B52"/>
                </a:solidFill>
              </a:defRPr>
            </a:pPr>
            <a:r>
              <a:rPr sz="1275" b="1">
                <a:solidFill>
                  <a:srgbClr val="E06B5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44A1A-42DA-4776-B7E3-42815DAC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052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36"/>
                </a:solidFill>
              </a:defRPr>
            </a:pPr>
            <a:r>
              <a:rPr sz="1650" b="1">
                <a:solidFill>
                  <a:srgbClr val="123B36"/>
                </a:solidFill>
              </a:rPr>
              <a:t>错题复盘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70D2F-26FB-4C7D-9B37-EB7D50C1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0522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让孩子讲清楚，而不是直接给答案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C6A9B-6A64-4158-A6B2-5FE88C5E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5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EE0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5C393-33A2-470C-AE7A-202B7CE7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910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C45"/>
                </a:solidFill>
              </a:defRPr>
            </a:pPr>
            <a:r>
              <a:rPr sz="1275" b="1">
                <a:solidFill>
                  <a:srgbClr val="174C45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E1EB6-8E87-4127-8ABA-E723D034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529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36"/>
                </a:solidFill>
              </a:defRPr>
            </a:pPr>
            <a:r>
              <a:rPr sz="1650" b="1">
                <a:solidFill>
                  <a:srgbClr val="123B36"/>
                </a:solidFill>
              </a:rPr>
              <a:t>具体表扬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52C1C-0304-4CA6-941D-8D0594D4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529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D38"/>
                </a:solidFill>
              </a:defRPr>
            </a:pPr>
            <a:r>
              <a:rPr sz="1350" b="0">
                <a:solidFill>
                  <a:srgbClr val="243D38"/>
                </a:solidFill>
              </a:rPr>
              <a:t>表扬坚持、检查与表达</a:t>
            </a:r>
          </a:p>
        </p:txBody>
      </p:sp>
    </p:spTree>
    <p:extLst>
      <p:ext uri="{BB962C8B-B14F-4D97-AF65-F5344CB8AC3E}">
        <p14:creationId xmlns:p14="http://schemas.microsoft.com/office/powerpoint/2010/main" val="639671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612B1-FBB5-419B-9DC0-B6511BE5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43B"/>
                </a:solidFill>
              </a:defRPr>
            </a:pPr>
            <a:r>
              <a:rPr sz="900" b="1">
                <a:solidFill>
                  <a:srgbClr val="D5A43B"/>
                </a:solidFill>
              </a:rPr>
              <a:t>06 · HOW WE COMMUNICATE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DD4B4-F817-47E9-AC2F-CB059981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B36"/>
                </a:solidFill>
              </a:defRPr>
            </a:pPr>
            <a:r>
              <a:rPr sz="2700" b="1">
                <a:solidFill>
                  <a:srgbClr val="123B36"/>
                </a:solidFill>
              </a:rPr>
              <a:t>沟通原则：保护每一个孩子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4E990-E56B-4AB0-9937-7D7180E9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A74"/>
                </a:solidFill>
              </a:defRPr>
            </a:pPr>
            <a:r>
              <a:rPr sz="975" b="1">
                <a:solidFill>
                  <a:srgbClr val="647A74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7B513-56F4-42A8-BBB8-4E1E4BB7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5CA30-D809-4C4C-AECA-FCF13D38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4C45"/>
                </a:solidFill>
              </a:defRPr>
            </a:pPr>
            <a:r>
              <a:rPr sz="1875" b="1">
                <a:solidFill>
                  <a:srgbClr val="174C45"/>
                </a:solidFill>
              </a:rPr>
              <a:t>班级群里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11CCD-ACEB-4ED4-B37F-20C02588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524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✓ 只分享班级共性与公开事项</a:t>
            </a:r>
          </a:p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✓ 不公开排名和个体成绩</a:t>
            </a:r>
          </a:p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✓ 不用“别人家的孩子”做比较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77472-5858-48EC-8452-16BFEA0F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06B52"/>
                </a:solidFill>
              </a:defRPr>
            </a:pPr>
            <a:r>
              <a:rPr sz="1875" b="1">
                <a:solidFill>
                  <a:srgbClr val="E06B52"/>
                </a:solidFill>
              </a:rPr>
              <a:t>一对一沟通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7AE58-84A8-4AB6-8A9A-49D44DCD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观察事实 → 孩子感受</a:t>
            </a:r>
          </a:p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共同目标 → 两周行动</a:t>
            </a:r>
          </a:p>
          <a:p xmlns:a="http://schemas.openxmlformats.org/drawingml/2006/main">
            <a:pPr algn="l">
              <a:defRPr sz="1500" b="0">
                <a:solidFill>
                  <a:srgbClr val="243D38"/>
                </a:solidFill>
              </a:defRPr>
            </a:pPr>
            <a:r>
              <a:rPr sz="1500" b="0">
                <a:solidFill>
                  <a:srgbClr val="243D38"/>
                </a:solidFill>
              </a:rPr>
              <a:t>复盘变化 → 调整支持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3C4A8-AF4F-4AA7-B913-6099378B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EAD3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E96B5-9C14-424A-AC17-0B7B6939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B36"/>
                </a:solidFill>
              </a:defRPr>
            </a:pPr>
            <a:r>
              <a:rPr sz="1650" b="1">
                <a:solidFill>
                  <a:srgbClr val="123B36"/>
                </a:solidFill>
              </a:rPr>
              <a:t>我们讨论的不是“孩子是什么样的人”，而是“此刻什么方法更适合孩子”。</a:t>
            </a:r>
          </a:p>
        </p:txBody>
      </p:sp>
    </p:spTree>
    <p:extLst>
      <p:ext uri="{BB962C8B-B14F-4D97-AF65-F5344CB8AC3E}">
        <p14:creationId xmlns:p14="http://schemas.microsoft.com/office/powerpoint/2010/main" val="443976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50733b0344a4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1A58F-AFD6-4119-B0B0-7800D30C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36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415A3-5A8B-46CE-8A6E-EC449F8A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097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谢谢每一份理解与同行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14499-747F-4821-8A52-9F45312A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09875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一次成绩告诉我们现在在哪里</a:t>
            </a:r>
          </a:p>
          <a:p xmlns:a="http://schemas.openxmlformats.org/drawingml/2006/main">
            <a:pPr algn="ctr"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下一步怎么走，才决定我们会到哪里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D9782-0569-4513-995F-E0E51FAB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5A43B"/>
                </a:solidFill>
              </a:defRPr>
            </a:pPr>
            <a:r>
              <a:rPr sz="1350" b="1">
                <a:solidFill>
                  <a:srgbClr val="D5A43B"/>
                </a:solidFill>
              </a:rPr>
              <a:t>会后可预约 10 分钟个别沟通</a:t>
            </a:r>
          </a:p>
        </p:txBody>
      </p:sp>
    </p:spTree>
    <p:extLst>
      <p:ext uri="{BB962C8B-B14F-4D97-AF65-F5344CB8AC3E}">
        <p14:creationId xmlns:p14="http://schemas.microsoft.com/office/powerpoint/2010/main" val="851713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2026-08-30T03:35:17.0520000Z</dcterms:created>
  <dcterms:modified xsi:type="dcterms:W3CDTF">2026-08-30T03:35:17.0520000Z</dcterms:modified>
</coreProperties>
</file>